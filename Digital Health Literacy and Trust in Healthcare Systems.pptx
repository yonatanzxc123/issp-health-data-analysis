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91" r:id="rId5"/>
    <p:sldId id="277" r:id="rId6"/>
    <p:sldId id="292" r:id="rId7"/>
    <p:sldId id="294" r:id="rId8"/>
    <p:sldId id="296" r:id="rId9"/>
    <p:sldId id="298" r:id="rId10"/>
    <p:sldId id="299" r:id="rId11"/>
    <p:sldId id="300" r:id="rId12"/>
    <p:sldId id="28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3204" autoAdjust="0"/>
  </p:normalViewPr>
  <p:slideViewPr>
    <p:cSldViewPr snapToGrid="0">
      <p:cViewPr varScale="1">
        <p:scale>
          <a:sx n="103" d="100"/>
          <a:sy n="103" d="100"/>
        </p:scale>
        <p:origin x="1002" y="282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CEA2D-AAA0-E962-4106-0D87FE624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C5BB1-E1C1-935B-DDA9-2B68D527A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CB6246-5BFE-0EE4-71ED-6577F38C0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098F3-5499-696D-D272-879DB3BB5B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146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714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1DAF2-1366-8F2E-FE9E-16AF253E6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476B13-6F75-3E8D-EA80-53667300D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16ABE-5B53-3B12-0E85-9421117FB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221C5-B91F-67C8-B6CB-14DC239EBC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216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605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534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5AF23-A154-D39F-9F18-B13B70515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2B85B-9A00-9602-1FD0-D44FB2B24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6748" y="677918"/>
            <a:ext cx="7774316" cy="2383334"/>
          </a:xfrm>
        </p:spPr>
        <p:txBody>
          <a:bodyPr>
            <a:normAutofit fontScale="90000"/>
          </a:bodyPr>
          <a:lstStyle/>
          <a:p>
            <a:r>
              <a:rPr lang="en-GB" dirty="0"/>
              <a:t>Digital Health Literacy and Trust in Healthcare Systems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1B04D3-757D-DF1D-AAE2-63087F69C5C8}"/>
              </a:ext>
            </a:extLst>
          </p:cNvPr>
          <p:cNvSpPr txBox="1"/>
          <p:nvPr/>
        </p:nvSpPr>
        <p:spPr>
          <a:xfrm>
            <a:off x="3796748" y="3427417"/>
            <a:ext cx="63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An Analysis of the ISSP 2021 Global Dataset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B6E4DF-FC2A-1B8B-D02F-5F62ED717DA1}"/>
              </a:ext>
            </a:extLst>
          </p:cNvPr>
          <p:cNvSpPr txBox="1"/>
          <p:nvPr/>
        </p:nvSpPr>
        <p:spPr>
          <a:xfrm>
            <a:off x="6836229" y="6411686"/>
            <a:ext cx="63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Made by:  Yehonatan Segev, Ori Cohen</a:t>
            </a:r>
            <a:endParaRPr lang="LID409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35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6628" y="155887"/>
            <a:ext cx="6343650" cy="1366682"/>
          </a:xfrm>
        </p:spPr>
        <p:txBody>
          <a:bodyPr>
            <a:normAutofit/>
          </a:bodyPr>
          <a:lstStyle/>
          <a:p>
            <a:r>
              <a:rPr lang="en-US" dirty="0"/>
              <a:t> Research Focus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12769" y="1618926"/>
            <a:ext cx="7659461" cy="1093107"/>
          </a:xfrm>
        </p:spPr>
        <p:txBody>
          <a:bodyPr>
            <a:normAutofit/>
          </a:bodyPr>
          <a:lstStyle/>
          <a:p>
            <a:r>
              <a:rPr lang="en-GB" sz="2000" dirty="0"/>
              <a:t>This project investigates the relationship between internet reliance and healthcare confidence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C1951D2-C264-1A22-1712-70BE0D594784}"/>
              </a:ext>
            </a:extLst>
          </p:cNvPr>
          <p:cNvSpPr txBox="1">
            <a:spLocks/>
          </p:cNvSpPr>
          <p:nvPr/>
        </p:nvSpPr>
        <p:spPr>
          <a:xfrm>
            <a:off x="4212768" y="2717411"/>
            <a:ext cx="7659461" cy="363893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u="sng" dirty="0"/>
              <a:t>Our key Research Question: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b="1" dirty="0"/>
              <a:t>The Digital Divide: </a:t>
            </a:r>
            <a:r>
              <a:rPr lang="en-GB" sz="2000" dirty="0"/>
              <a:t>How do Age, Gender and Location influence health information seeking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b="1" dirty="0"/>
              <a:t>The Trust Gap: </a:t>
            </a:r>
            <a:r>
              <a:rPr lang="en-GB" sz="2000" dirty="0"/>
              <a:t>Does low confidence in system drive patients look for answer online ?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b="1" dirty="0"/>
              <a:t>User Personas: </a:t>
            </a:r>
            <a:r>
              <a:rPr lang="en-GB" sz="2000" dirty="0"/>
              <a:t>Can we Identify distinct groups of digital health users using Clustering ? (Unsupervised Learning)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b="1" dirty="0"/>
              <a:t>Global Context: </a:t>
            </a:r>
            <a:r>
              <a:rPr lang="en-GB" sz="2000" dirty="0"/>
              <a:t>How does this vary across different nations</a:t>
            </a:r>
            <a:endParaRPr lang="en-GB" sz="2000" b="1" dirty="0"/>
          </a:p>
          <a:p>
            <a:pPr marL="457200" indent="-457200">
              <a:buFont typeface="+mj-lt"/>
              <a:buAutoNum type="arabicPeriod"/>
            </a:pPr>
            <a:endParaRPr lang="en-GB" sz="2000" b="1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EB6DBDD-C09C-E0FD-0BE4-CA38ADF515CD}"/>
              </a:ext>
            </a:extLst>
          </p:cNvPr>
          <p:cNvSpPr txBox="1">
            <a:spLocks/>
          </p:cNvSpPr>
          <p:nvPr/>
        </p:nvSpPr>
        <p:spPr>
          <a:xfrm>
            <a:off x="4896628" y="155887"/>
            <a:ext cx="6343650" cy="13666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Data &amp; methodology</a:t>
            </a:r>
            <a:endParaRPr lang="en-Z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88ECD4-FAF6-E99A-C87A-6B95E000CBCE}"/>
              </a:ext>
            </a:extLst>
          </p:cNvPr>
          <p:cNvSpPr txBox="1"/>
          <p:nvPr/>
        </p:nvSpPr>
        <p:spPr>
          <a:xfrm>
            <a:off x="54625" y="4705401"/>
            <a:ext cx="3910885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solidFill>
                  <a:schemeClr val="bg1"/>
                </a:solidFill>
              </a:rPr>
              <a:t>Source:</a:t>
            </a:r>
            <a:r>
              <a:rPr lang="en-US" sz="1700" dirty="0">
                <a:solidFill>
                  <a:schemeClr val="bg1"/>
                </a:solidFill>
              </a:rPr>
              <a:t> ISSP 2021 Health and Health care II</a:t>
            </a:r>
          </a:p>
          <a:p>
            <a:endParaRPr lang="en-US" sz="1700" dirty="0">
              <a:solidFill>
                <a:schemeClr val="bg1"/>
              </a:solidFill>
            </a:endParaRPr>
          </a:p>
          <a:p>
            <a:r>
              <a:rPr lang="en-US" sz="1700" b="1" dirty="0">
                <a:solidFill>
                  <a:schemeClr val="bg1"/>
                </a:solidFill>
              </a:rPr>
              <a:t>Key Variables: </a:t>
            </a:r>
            <a:r>
              <a:rPr lang="en-US" sz="1700" dirty="0">
                <a:solidFill>
                  <a:schemeClr val="bg1"/>
                </a:solidFill>
              </a:rPr>
              <a:t>Confidence (v2), Internet Freq (v22), Verification (v29), Satisfaction (v44/v45)</a:t>
            </a:r>
            <a:endParaRPr lang="en-US" sz="1700" b="1" dirty="0">
              <a:solidFill>
                <a:schemeClr val="bg1"/>
              </a:solidFill>
            </a:endParaRPr>
          </a:p>
          <a:p>
            <a:endParaRPr lang="LID4096" sz="17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51CFB6-2763-5D0B-4DA1-398302A63C82}"/>
              </a:ext>
            </a:extLst>
          </p:cNvPr>
          <p:cNvSpPr txBox="1"/>
          <p:nvPr/>
        </p:nvSpPr>
        <p:spPr>
          <a:xfrm>
            <a:off x="4068147" y="1950098"/>
            <a:ext cx="6783355" cy="3369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>
                <a:solidFill>
                  <a:schemeClr val="bg1"/>
                </a:solidFill>
              </a:rPr>
              <a:t>Data Processing 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Scale Reversal :</a:t>
            </a:r>
            <a:r>
              <a:rPr lang="en-US" dirty="0">
                <a:solidFill>
                  <a:schemeClr val="bg1"/>
                </a:solidFill>
              </a:rPr>
              <a:t> Inverted scales so “Higher Number = Higher confidence/Frequency” for intuitive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Demographics : </a:t>
            </a:r>
            <a:r>
              <a:rPr lang="en-US" dirty="0">
                <a:solidFill>
                  <a:schemeClr val="bg1"/>
                </a:solidFill>
              </a:rPr>
              <a:t>Extracted and binned age groups, gender, and Urban/Rural status.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Modeling : </a:t>
            </a:r>
            <a:r>
              <a:rPr lang="en-US" dirty="0">
                <a:solidFill>
                  <a:schemeClr val="bg1"/>
                </a:solidFill>
              </a:rPr>
              <a:t>Moved from supervised (KNN) to unsupervised learning (K-Means Clustering) to find natural user patterns.</a:t>
            </a:r>
          </a:p>
          <a:p>
            <a:pPr>
              <a:lnSpc>
                <a:spcPct val="150000"/>
              </a:lnSpc>
            </a:pPr>
            <a:endParaRPr lang="LID409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842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1222D-9925-EFDE-6AC6-37F3562F5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822" y="1"/>
            <a:ext cx="10295099" cy="1243340"/>
          </a:xfrm>
        </p:spPr>
        <p:txBody>
          <a:bodyPr>
            <a:normAutofit fontScale="90000"/>
          </a:bodyPr>
          <a:lstStyle/>
          <a:p>
            <a:r>
              <a:rPr lang="en-US" dirty="0"/>
              <a:t>Insight 1 –</a:t>
            </a:r>
            <a:br>
              <a:rPr lang="en-US" dirty="0"/>
            </a:br>
            <a:r>
              <a:rPr lang="en-US" dirty="0"/>
              <a:t>The Demographic Divide</a:t>
            </a:r>
            <a:endParaRPr lang="LID4096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2D4424B-4F10-BDFD-BDAF-B8084CF807D1}"/>
              </a:ext>
            </a:extLst>
          </p:cNvPr>
          <p:cNvPicPr>
            <a:picLocks noGrp="1" noChangeAspect="1"/>
          </p:cNvPicPr>
          <p:nvPr>
            <p:ph sz="half" idx="16"/>
          </p:nvPr>
        </p:nvPicPr>
        <p:blipFill>
          <a:blip r:embed="rId3"/>
          <a:stretch>
            <a:fillRect/>
          </a:stretch>
        </p:blipFill>
        <p:spPr>
          <a:xfrm>
            <a:off x="0" y="1054359"/>
            <a:ext cx="6083560" cy="381622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81905D-B429-2FDA-04CB-D3C7A53E9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268C86-8458-D8B1-0567-EA53247ED235}"/>
              </a:ext>
            </a:extLst>
          </p:cNvPr>
          <p:cNvSpPr txBox="1"/>
          <p:nvPr/>
        </p:nvSpPr>
        <p:spPr>
          <a:xfrm>
            <a:off x="3041780" y="4826674"/>
            <a:ext cx="92653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Key Findings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Age is the primary driver:</a:t>
            </a:r>
            <a:r>
              <a:rPr lang="en-US" dirty="0">
                <a:solidFill>
                  <a:schemeClr val="bg1"/>
                </a:solidFill>
              </a:rPr>
              <a:t> “Young Adults” are the heaviest users of digital health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The Gender gap: </a:t>
            </a:r>
            <a:r>
              <a:rPr lang="en-US" dirty="0">
                <a:solidFill>
                  <a:schemeClr val="bg1"/>
                </a:solidFill>
              </a:rPr>
              <a:t>Females tend to search for more health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Location: </a:t>
            </a:r>
            <a:r>
              <a:rPr lang="en-US" dirty="0">
                <a:solidFill>
                  <a:schemeClr val="bg1"/>
                </a:solidFill>
              </a:rPr>
              <a:t>Urban residents show higher digital engagement by a small margin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Takeaway: </a:t>
            </a:r>
            <a:r>
              <a:rPr lang="en-US" dirty="0">
                <a:solidFill>
                  <a:schemeClr val="bg1"/>
                </a:solidFill>
              </a:rPr>
              <a:t>Digital health literacy is not uniform, its heavily skewed by demographics</a:t>
            </a:r>
            <a:endParaRPr lang="en-US" b="1" dirty="0">
              <a:solidFill>
                <a:schemeClr val="bg1"/>
              </a:solidFill>
            </a:endParaRPr>
          </a:p>
          <a:p>
            <a:endParaRPr lang="LID4096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0EDFE4-12C5-DA7A-ED06-990B0BC6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561" y="1054359"/>
            <a:ext cx="6083560" cy="381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2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E2642-DD71-78A4-E09F-01EA4E116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F5035-5349-97C7-C718-1E3E401F5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822" y="1"/>
            <a:ext cx="10295099" cy="1243340"/>
          </a:xfrm>
        </p:spPr>
        <p:txBody>
          <a:bodyPr>
            <a:normAutofit fontScale="90000"/>
          </a:bodyPr>
          <a:lstStyle/>
          <a:p>
            <a:r>
              <a:rPr lang="en-US" dirty="0"/>
              <a:t>Insight 2 –</a:t>
            </a:r>
            <a:br>
              <a:rPr lang="en-US" dirty="0"/>
            </a:br>
            <a:r>
              <a:rPr lang="en-US" dirty="0"/>
              <a:t>The Trust paradox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62DBA1-3D41-57F6-6D98-94DA5E614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55AB1B-416F-A225-84C9-62DF47ADF7B8}"/>
              </a:ext>
            </a:extLst>
          </p:cNvPr>
          <p:cNvSpPr txBox="1"/>
          <p:nvPr/>
        </p:nvSpPr>
        <p:spPr>
          <a:xfrm>
            <a:off x="3041780" y="4826674"/>
            <a:ext cx="92653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Key Findings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The Skeptic’s Tool:</a:t>
            </a:r>
            <a:r>
              <a:rPr lang="en-US" dirty="0">
                <a:solidFill>
                  <a:schemeClr val="bg1"/>
                </a:solidFill>
              </a:rPr>
              <a:t> Individuals with </a:t>
            </a:r>
            <a:r>
              <a:rPr lang="en-US" b="1" dirty="0">
                <a:solidFill>
                  <a:schemeClr val="bg1"/>
                </a:solidFill>
              </a:rPr>
              <a:t>low Confidence</a:t>
            </a:r>
            <a:r>
              <a:rPr lang="en-US" dirty="0">
                <a:solidFill>
                  <a:schemeClr val="bg1"/>
                </a:solidFill>
              </a:rPr>
              <a:t> in healthcare system are significantly </a:t>
            </a:r>
            <a:r>
              <a:rPr lang="en-US" b="1" dirty="0">
                <a:solidFill>
                  <a:schemeClr val="bg1"/>
                </a:solidFill>
              </a:rPr>
              <a:t>more likely</a:t>
            </a:r>
            <a:r>
              <a:rPr lang="en-US" dirty="0">
                <a:solidFill>
                  <a:schemeClr val="bg1"/>
                </a:solidFill>
              </a:rPr>
              <a:t> to use the internet to “double- check” their doctor.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Behavioral Split: </a:t>
            </a:r>
            <a:r>
              <a:rPr lang="en-US" dirty="0">
                <a:solidFill>
                  <a:schemeClr val="bg1"/>
                </a:solidFill>
              </a:rPr>
              <a:t>High-trust individuals often report “Never” or “Serval\year” using the internet for health, relaying entirely on the system.</a:t>
            </a:r>
          </a:p>
          <a:p>
            <a:r>
              <a:rPr lang="en-US" b="1" dirty="0">
                <a:solidFill>
                  <a:schemeClr val="bg1"/>
                </a:solidFill>
              </a:rPr>
              <a:t>Conclusion: </a:t>
            </a:r>
            <a:r>
              <a:rPr lang="en-US" dirty="0">
                <a:solidFill>
                  <a:schemeClr val="bg1"/>
                </a:solidFill>
              </a:rPr>
              <a:t>There is a clear </a:t>
            </a:r>
            <a:r>
              <a:rPr lang="en-US" b="1" dirty="0">
                <a:solidFill>
                  <a:schemeClr val="bg1"/>
                </a:solidFill>
              </a:rPr>
              <a:t>Inverse Correlation </a:t>
            </a:r>
            <a:r>
              <a:rPr lang="en-US" dirty="0">
                <a:solidFill>
                  <a:schemeClr val="bg1"/>
                </a:solidFill>
              </a:rPr>
              <a:t>– distrust in the system drives digital verification.</a:t>
            </a:r>
            <a:endParaRPr lang="en-US" b="1" dirty="0">
              <a:solidFill>
                <a:schemeClr val="bg1"/>
              </a:solidFill>
            </a:endParaRPr>
          </a:p>
          <a:p>
            <a:endParaRPr lang="LID4096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7E395B-54D7-D488-BE06-2BFC66F23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9" y="1073639"/>
            <a:ext cx="5620141" cy="37969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250440-7D85-44C8-0DF7-8D724F412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5020" y="1073639"/>
            <a:ext cx="6522101" cy="379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860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F8DCF-6DA7-64A5-6299-91DE6378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665845" cy="1035698"/>
          </a:xfrm>
        </p:spPr>
        <p:txBody>
          <a:bodyPr>
            <a:normAutofit fontScale="90000"/>
          </a:bodyPr>
          <a:lstStyle/>
          <a:p>
            <a:r>
              <a:rPr lang="en-US" dirty="0"/>
              <a:t>Insight 3 –</a:t>
            </a:r>
            <a:br>
              <a:rPr lang="en-US" dirty="0"/>
            </a:br>
            <a:r>
              <a:rPr lang="en-US" dirty="0"/>
              <a:t>Identifying user personas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329B3-CB3F-2F3C-7A4D-8CE10D3FF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47C977-30D2-3AC8-B213-8C1DE7CF6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150" y="1035696"/>
            <a:ext cx="4165931" cy="36552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A1F925-9DEC-AFEB-59E7-C36C3FA9C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7" y="1035698"/>
            <a:ext cx="4207551" cy="36552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194232-6E7E-1FAD-F635-E8D56CFD76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7466" y="1035696"/>
            <a:ext cx="3917067" cy="36552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64E425-C8D9-6CFE-A57E-0D2D5ADA1B5B}"/>
              </a:ext>
            </a:extLst>
          </p:cNvPr>
          <p:cNvSpPr txBox="1"/>
          <p:nvPr/>
        </p:nvSpPr>
        <p:spPr>
          <a:xfrm>
            <a:off x="0" y="4690928"/>
            <a:ext cx="59902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The Approach: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tried to predict via usage of </a:t>
            </a:r>
            <a:r>
              <a:rPr lang="en-US" b="1" dirty="0"/>
              <a:t>KNN</a:t>
            </a:r>
            <a:r>
              <a:rPr lang="en-US" dirty="0"/>
              <a:t> (Supervised) but what we got which was Low accuracy suggests the behavior is more complex.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 to face this issue we switch to </a:t>
            </a:r>
            <a:r>
              <a:rPr lang="en-US" b="1" dirty="0"/>
              <a:t>K-means Clustering </a:t>
            </a:r>
            <a:r>
              <a:rPr lang="en-US" dirty="0"/>
              <a:t>(unsupervised) to let the data reveal natural groups.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76989A-B0F6-542D-0A70-941350F1C35B}"/>
              </a:ext>
            </a:extLst>
          </p:cNvPr>
          <p:cNvSpPr txBox="1"/>
          <p:nvPr/>
        </p:nvSpPr>
        <p:spPr>
          <a:xfrm>
            <a:off x="6171158" y="4690925"/>
            <a:ext cx="58839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The Surprise: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Finding: </a:t>
            </a:r>
            <a:r>
              <a:rPr lang="en-US" dirty="0"/>
              <a:t>Despite different digital behaviors, satisfaction is relatively uniform across all clusters.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Meaning:</a:t>
            </a:r>
            <a:r>
              <a:rPr lang="en-US" dirty="0"/>
              <a:t> High internet use does not automatically mean a person is dissatisfied. The relationship is nuanced</a:t>
            </a:r>
            <a:endParaRPr lang="LID4096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AA09CE-DA21-E574-3528-335A350F526C}"/>
              </a:ext>
            </a:extLst>
          </p:cNvPr>
          <p:cNvSpPr/>
          <p:nvPr/>
        </p:nvSpPr>
        <p:spPr>
          <a:xfrm>
            <a:off x="5990253" y="4690928"/>
            <a:ext cx="180905" cy="2167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20774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61A7F-28AA-3C9B-10D3-BDE53D262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665845" cy="1325563"/>
          </a:xfrm>
        </p:spPr>
        <p:txBody>
          <a:bodyPr/>
          <a:lstStyle/>
          <a:p>
            <a:r>
              <a:rPr lang="en-US" dirty="0"/>
              <a:t>Global Perspectives 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BAADF-3170-185C-2D2E-84F41A00D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243C29D4-3A9D-5C50-BCF5-7F7F80B85D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12163" y="3276599"/>
            <a:ext cx="2236237" cy="2236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LID4096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DB29E9-DCBA-F249-DFB5-AB9DAE9B9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56" y="923731"/>
            <a:ext cx="12205956" cy="593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266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19C13-8DAA-E41F-FDD2-FF1740106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90435-212A-FC84-5DE6-ADD6ED1BF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665845" cy="1325563"/>
          </a:xfrm>
        </p:spPr>
        <p:txBody>
          <a:bodyPr/>
          <a:lstStyle/>
          <a:p>
            <a:r>
              <a:rPr lang="en-US" dirty="0"/>
              <a:t>Global Perspectives 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96F23-FD96-97AA-751B-570B1D247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188CB390-E6FA-EFD4-591B-67465D5BE4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12163" y="3276599"/>
            <a:ext cx="2236237" cy="2236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LID4096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116CCD-9AC7-A831-2256-7BDCEDF87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2781"/>
            <a:ext cx="5999584" cy="38252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AC261E-D961-DEDF-17BD-6240EDC5D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9584" y="662781"/>
            <a:ext cx="6071118" cy="38252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09C3E4-4C9F-91EE-C66C-FBDF8DE8C6DC}"/>
              </a:ext>
            </a:extLst>
          </p:cNvPr>
          <p:cNvSpPr txBox="1"/>
          <p:nvPr/>
        </p:nvSpPr>
        <p:spPr>
          <a:xfrm>
            <a:off x="0" y="4488024"/>
            <a:ext cx="120707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Key Findings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nations have high digital engagement but moderate to low system confidence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see lower internet usage with varying levels of trust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Advance digital infrastructure </a:t>
            </a:r>
            <a:r>
              <a:rPr lang="en-US" b="1" dirty="0"/>
              <a:t>does not </a:t>
            </a:r>
            <a:r>
              <a:rPr lang="en-US" dirty="0"/>
              <a:t>guarantee higher trust in the healthcare system. In fact, easier access to information often correlates with more critical views of the system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Takeaway: </a:t>
            </a:r>
            <a:r>
              <a:rPr lang="en-US" dirty="0"/>
              <a:t>:”Digital health” is not just about technology availability, it’s a cultural response to how citizens view their institutions</a:t>
            </a:r>
            <a:endParaRPr lang="en-US" b="1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245361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6246" y="86519"/>
            <a:ext cx="7889768" cy="2039341"/>
          </a:xfrm>
        </p:spPr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251268-42B4-3B45-A59B-740E2DB97A0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969934" y="1106189"/>
            <a:ext cx="7886080" cy="39795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Summary of Findings: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The Digital Divide is Demographic:</a:t>
            </a:r>
            <a:r>
              <a:rPr lang="en-US" dirty="0"/>
              <a:t> Age is the strongest predicator of usage. Young adults are “Digital Natives” in healthcare, while seniors remain “Analog Loyalists” despite having higher health care needs.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The Trust Paradox Confirmed: </a:t>
            </a:r>
            <a:r>
              <a:rPr lang="en-US" dirty="0"/>
              <a:t>We found a statistically significant link- </a:t>
            </a:r>
            <a:r>
              <a:rPr lang="en-US" b="1" dirty="0"/>
              <a:t>Low confidence in the healthcare system drives patients to the internet</a:t>
            </a:r>
            <a:r>
              <a:rPr lang="en-US" dirty="0"/>
              <a:t>. As the internet provides a good “second option” for skeptics.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Behavior </a:t>
            </a:r>
            <a:r>
              <a:rPr lang="en-IL" b="1" dirty="0"/>
              <a:t>≠</a:t>
            </a:r>
            <a:r>
              <a:rPr lang="en-US" b="1" dirty="0"/>
              <a:t> Satisfaction: </a:t>
            </a:r>
            <a:r>
              <a:rPr lang="en-US" dirty="0"/>
              <a:t>Our clustering revealed that High Frequency users aren’t necessarily dissatisfied, they are simply </a:t>
            </a:r>
            <a:r>
              <a:rPr lang="en-US" b="1" dirty="0"/>
              <a:t>informed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We can infer that they use the internet to navigate the system, not just replace it.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5499D-A5B6-965E-57F2-8C45AF2965C0}"/>
              </a:ext>
            </a:extLst>
          </p:cNvPr>
          <p:cNvSpPr txBox="1"/>
          <p:nvPr/>
        </p:nvSpPr>
        <p:spPr>
          <a:xfrm>
            <a:off x="2966246" y="4784586"/>
            <a:ext cx="778157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u="sng" dirty="0"/>
              <a:t>Implications for Healthcare:</a:t>
            </a:r>
            <a:endParaRPr lang="he-IL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Don’t fight the GPT: </a:t>
            </a:r>
            <a:r>
              <a:rPr lang="en-US" dirty="0"/>
              <a:t>Since low-trust groups flock online, healthcare systems must improve their official digital presence to combat misinformation.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Target the “Verifier”:</a:t>
            </a:r>
            <a:r>
              <a:rPr lang="en-US" dirty="0"/>
              <a:t> Doctors should expect and encourage digital verification to build trust with skepticism-prone demographics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{DB01B91D-BE47-459F-A051-A2E7500084DE}TF55c86556-70ea-476e-aa05-13a38f2d5b0da1381d77_win32-a3c664429073</Template>
  <TotalTime>213</TotalTime>
  <Words>696</Words>
  <Application>Microsoft Office PowerPoint</Application>
  <PresentationFormat>Widescreen</PresentationFormat>
  <Paragraphs>65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Avenir Next LT Pro</vt:lpstr>
      <vt:lpstr>Calibri</vt:lpstr>
      <vt:lpstr>Custom</vt:lpstr>
      <vt:lpstr>Digital Health Literacy and Trust in Healthcare Systems</vt:lpstr>
      <vt:lpstr> Research Focus</vt:lpstr>
      <vt:lpstr>PowerPoint Presentation</vt:lpstr>
      <vt:lpstr>Insight 1 – The Demographic Divide</vt:lpstr>
      <vt:lpstr>Insight 2 – The Trust paradox</vt:lpstr>
      <vt:lpstr>Insight 3 – Identifying user personas</vt:lpstr>
      <vt:lpstr>Global Perspectives </vt:lpstr>
      <vt:lpstr>Global Perspectives 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Yehonatan Segev</dc:creator>
  <cp:lastModifiedBy>yehonatan segev</cp:lastModifiedBy>
  <cp:revision>5</cp:revision>
  <dcterms:created xsi:type="dcterms:W3CDTF">2026-01-01T14:56:35Z</dcterms:created>
  <dcterms:modified xsi:type="dcterms:W3CDTF">2026-01-15T18:32:10Z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